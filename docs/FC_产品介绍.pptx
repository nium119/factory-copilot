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463040"/>
            <a:ext cx="5669280" cy="566928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2194560"/>
            <a:ext cx="3840480" cy="384048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5486400"/>
            <a:ext cx="2011680" cy="201168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434840"/>
            <a:ext cx="12191695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让 AI 敢在真实业务上执行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E0DCFF"/>
                </a:solidFill>
                <a:latin typeface="微软雅黑"/>
                <a:ea typeface="微软雅黑"/>
              </a:rPr>
              <a:t>本体驱动的企业级智能体平台（通用架构）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9C4EA"/>
                </a:solidFill>
                <a:latin typeface="微软雅黑"/>
                <a:ea typeface="微软雅黑"/>
              </a:rPr>
              <a:t>不是绑定单一业务的专用助手，而是一套由本体驱动、可配置、可换域复用的智能体架构，率先在制造业打磨落地。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389120"/>
            <a:ext cx="2926080" cy="10515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4389120"/>
            <a:ext cx="292608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681728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本体驱动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微软雅黑"/>
                <a:ea typeface="微软雅黑"/>
              </a:rPr>
              <a:t>不被单一业务绑定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389120"/>
            <a:ext cx="2926080" cy="10515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389120"/>
            <a:ext cx="2926080" cy="109728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681728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E9E6A"/>
                </a:solidFill>
                <a:latin typeface="微软雅黑"/>
                <a:ea typeface="微软雅黑"/>
              </a:rPr>
              <a:t>可配置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微软雅黑"/>
                <a:ea typeface="微软雅黑"/>
              </a:rPr>
              <a:t>换域即换一套业务链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389120"/>
            <a:ext cx="2926080" cy="10515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4389120"/>
            <a:ext cx="2926080" cy="109728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4681728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F86D0"/>
                </a:solidFill>
                <a:latin typeface="微软雅黑"/>
                <a:ea typeface="微软雅黑"/>
              </a:rPr>
              <a:t>可复用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微软雅黑"/>
                <a:ea typeface="微软雅黑"/>
              </a:rPr>
              <a:t>制造先行，可复制到更多域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0ACD8"/>
                </a:solidFill>
                <a:latin typeface="微软雅黑"/>
                <a:ea typeface="微软雅黑"/>
              </a:rPr>
              <a:t>企业级智能体方案 · 售前版本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企业 AI 落地的真实挑战（以制造业为例）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很多 AI 助手只能“回答”，却上不了真实业务——问题不在模型，在“敢不敢用”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💼  经验在人走之后丢光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工艺、质量、维修高度依赖老师傅，知识难沉淀、难复用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🗂️  问题散在各系统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工单、物料、质量、设备分散在业务系统，要靠人来回翻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⚠️  写操作不敢交 AI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AI 只会“说”，改数、建单、调参数——没人敢放权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🔍  答错 / 写错没人负责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结果不可溯源、不可审计，出了错无从定位和回滚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4023360" cy="402336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280160"/>
            <a:ext cx="2743200" cy="2743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1887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核心定位：通用架构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本体驱动 · 可配置 · 换域即换链 —— 制造业不是边界，是最先打磨的领域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一套通用架构，一门深入落地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同一框架，换一套本体即换一个业务域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53746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🧭  懂业务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微软雅黑"/>
                <a:ea typeface="微软雅黑"/>
              </a:rPr>
              <a:t>本体建模业务对象、关系、规则，让 AI 理解真实业务，不是套壳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1860" y="1481328"/>
            <a:ext cx="2537460" cy="1097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046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✍️  敢下笔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微软雅黑"/>
                <a:ea typeface="微软雅黑"/>
              </a:rPr>
              <a:t>写操作带人机确认、审批、责任分离复核，还可回滚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81328"/>
            <a:ext cx="2537460" cy="109728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📡  用真数据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微软雅黑"/>
                <a:ea typeface="微软雅黑"/>
              </a:rPr>
              <a:t>统一数据访问层打通业务系统与图数据库（以制造起步，可扩展）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542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75420" y="1481328"/>
            <a:ext cx="2537460" cy="109728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402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🔍  可负责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B5563"/>
                </a:solidFill>
                <a:latin typeface="微软雅黑"/>
                <a:ea typeface="微软雅黑"/>
              </a:rPr>
              <a:t>全链路审计 + 智能体调用追踪，每一步可查、结果可回滚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3CB8"/>
                </a:solidFill>
                <a:latin typeface="微软雅黑"/>
                <a:ea typeface="微软雅黑"/>
              </a:rPr>
              <a:t>通用架构的三个支撑：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① 本体驱动 — 把业务编译成可用的智能体、技能与动作；② 链配置 — 业务链可配置、可复用；③ 多系统接入 — 换域即换数据源。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产品界面一览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真实系统界面（本地环境实测，非概念图）</a:t>
            </a:r>
          </a:p>
        </p:txBody>
      </p:sp>
      <p:pic>
        <p:nvPicPr>
          <p:cNvPr id="6" name="Picture 5" descr="demo_a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A3CB8"/>
                </a:solidFill>
                <a:latin typeface="微软雅黑"/>
                <a:ea typeface="微软雅黑"/>
              </a:rPr>
              <a:t>对话界面：业务域智能体 + 对话区</a:t>
            </a:r>
          </a:p>
        </p:txBody>
      </p:sp>
      <p:pic>
        <p:nvPicPr>
          <p:cNvPr id="8" name="Picture 7" descr="demo_refine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71600"/>
            <a:ext cx="36576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A3CB8"/>
                </a:solidFill>
                <a:latin typeface="微软雅黑"/>
                <a:ea typeface="微软雅黑"/>
              </a:rPr>
              <a:t>执行链路 + 查询结果表格</a:t>
            </a:r>
          </a:p>
        </p:txBody>
      </p:sp>
      <p:pic>
        <p:nvPicPr>
          <p:cNvPr id="10" name="Picture 9" descr="demo_appr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371600"/>
            <a:ext cx="36576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A3CB8"/>
                </a:solidFill>
                <a:latin typeface="微软雅黑"/>
                <a:ea typeface="微软雅黑"/>
              </a:rPr>
              <a:t>写操作 · 人工确认卡片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4023360" cy="402336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280160"/>
            <a:ext cx="2743200" cy="2743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1887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配置驱动：链配置 → 方案 → 执行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不是写死的业务逻辑，而是“配置出业务、自动出方案、安全去执行”的可复制闭环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一条配置驱动的完整闭环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从配置业务链，到自动出方案、安全执行、全程留痕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配置业务链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把“怎么处理一件事”配置成一条业务链，所见即所得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2415" y="2313432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14016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14016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60904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自动生成方案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智能体多步分析后自动产出变更方案，非人工编写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42415" y="3246120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46704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593592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人工确认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涉及写操作前，推送参数与方案供人工确认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42415" y="4178808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79392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79392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526280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25696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安全执行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确认后执行变更方案，落点与影响面清晰可见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42415" y="5111496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12080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212080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5458968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358384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全程留痕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执行结果追加写入审计，可追溯、可复盘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4023360" cy="402336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280160"/>
            <a:ext cx="2743200" cy="2743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1887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本体驱动：让 AI 理解业务，也敢执行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语义层 + 行为层 + 动态治理层在同一套本体里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本体 = 语义层 + 行为层 + 动态治理层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这是 FC 与通用智能体的根本差异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74720" cy="246888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47472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🧠  语义层 · 有什么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业务对象：工单 / 物料 / 工序 / 设备；关系：包含 / 分配 / 约束；规则与指标口径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81328"/>
            <a:ext cx="3474720" cy="246888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81328"/>
            <a:ext cx="3474720" cy="1097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01368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⚙️  行为层 · 能做什么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动作与函数：建单 / 回写 / 通知；规则引擎：约束 / 推理 / 触发 / 计算字段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81328"/>
            <a:ext cx="3474720" cy="246888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81328"/>
            <a:ext cx="3474720" cy="109728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01368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🛡️  动态层 · 谁能做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权限、密级、血缘、审计；写操作确认、审批门禁、责任分离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3CB8"/>
                </a:solidFill>
                <a:latin typeface="微软雅黑"/>
                <a:ea typeface="微软雅黑"/>
              </a:rPr>
              <a:t>从图数据库本体动态编译出可用的智能体、技能与动作（59 概念 → 41 操作 → 7 业务域），而非硬编码角色。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一次建模、多处复用：知识库 / 图谱检索 / 智能体 / 开放接口 / 审计，同一套语义底座。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本体建模：概念-关系可视化（OntoStudio）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真实本体图——本体建模工具中的概念与关系</a:t>
            </a:r>
          </a:p>
        </p:txBody>
      </p:sp>
      <p:pic>
        <p:nvPicPr>
          <p:cNvPr id="6" name="Picture 5" descr="onto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234440"/>
            <a:ext cx="8046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工单本体：属性 / 关系 / 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真实概念：26 属性 · 6 关系 · 7 规则（含审批门禁）</a:t>
            </a:r>
          </a:p>
        </p:txBody>
      </p:sp>
      <p:pic>
        <p:nvPicPr>
          <p:cNvPr id="6" name="Picture 5" descr="onto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A3CB8"/>
                </a:solidFill>
                <a:latin typeface="微软雅黑"/>
                <a:ea typeface="微软雅黑"/>
              </a:rPr>
              <a:t>① 属性 · 26</a:t>
            </a:r>
          </a:p>
        </p:txBody>
      </p:sp>
      <p:pic>
        <p:nvPicPr>
          <p:cNvPr id="8" name="Picture 7" descr="onto_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71600"/>
            <a:ext cx="36576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A3CB8"/>
                </a:solidFill>
                <a:latin typeface="微软雅黑"/>
                <a:ea typeface="微软雅黑"/>
              </a:rPr>
              <a:t>② 关系 · 6</a:t>
            </a:r>
          </a:p>
        </p:txBody>
      </p:sp>
      <p:pic>
        <p:nvPicPr>
          <p:cNvPr id="10" name="Picture 9" descr="onto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371600"/>
            <a:ext cx="36576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A3CB8"/>
                </a:solidFill>
                <a:latin typeface="微软雅黑"/>
                <a:ea typeface="微软雅黑"/>
              </a:rPr>
              <a:t>③ 规则 ·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本体建模能力与集成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既能建模演化本体，又以本体为枢纽集成 数据 / 系统 / 工具 / 治理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🧩  本体建模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定义对象 / 关系 / 规则 / 动作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🤖  规则 / AI 推导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从业务规则或智能体辅助生成本体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🗺️  本体图谱编辑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可视化浏览 / 编辑概念与关系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🔌  多系统集成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MES / ERP 按概念路由 + MCP / A2A 开放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3880" y="363016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🛡️  治理闭环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审批 / 审计 / 追踪，写操作安全边界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4023360" cy="402336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280160"/>
            <a:ext cx="2743200" cy="2743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1887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写操作安全闭环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能写、且有完整安全边界 —— 与本体成对讲，是 FC 的核心差异化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从“会回答”到“敢执行”：一条写操作的生命周期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每一步都在本体定义的安全边界内运行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728" cy="82296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人工确认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对“需确认”的写操作推送参数表单，确认后才执行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2415" y="2313432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14016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14016"/>
            <a:ext cx="109728" cy="82296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60904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审批门禁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规则触发（如数量超阈值）委托对应角色审批，责任分离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42415" y="3246120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46704"/>
            <a:ext cx="109728" cy="82296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593592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责任分离复核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执行人不能复核自己的操作；验证结果硬对比（期望 vs 实际）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42415" y="4178808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79392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79392"/>
            <a:ext cx="109728" cy="82296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526280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25696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可回滚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验证失败可触发回滚，撤销变更并全程留痕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微软雅黑"/>
                <a:ea typeface="微软雅黑"/>
              </a:rPr>
              <a:t>一句话：智能体可以写，但必须被确认、被审批、可复核、可回滚。——这正是业务敢用的前提。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配套审批管理：待审批 / 已处理列表、批量审批、责任分离复核、回滚，全程留痕可查。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一个完整业务场景：从改数到可回滚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写操作闭环的真实流转（以工单数量为例）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提出变更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把工单 MO001 生产数量从 100 改成 200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2415" y="2313432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14016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14016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60904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人工确认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推送参数表单，人工确认要改什么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42415" y="3246120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46704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593592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审批门禁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数量 &gt; 200 触发规则，委托对应角色审批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42415" y="4178808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79392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79392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526280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25696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责任分离复核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执行人不能复核自己；验证结果期望 vs 实际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42415" y="5111496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12080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212080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5458968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358384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可回滚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验证失败触发回滚，撤销变更并留痕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审批管理：人机协同的完整闭环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不只是“确认”，而是 审批 → 复核 → 回滚 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🔐  审批门禁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规则触发（如数量 &gt; 200）委托对应角色审批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📋  审批管理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待审批 / 已处理列表、通过 / 拒绝、批量审批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🔁  责任分离复核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执行人不能复核自己，验证结果硬对比（期望 vs 实际）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↩️  可回滚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验证失败触发回滚，撤销变更并全程留痕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3880" y="363016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🔔  审批通知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实时角标 + 多渠道触达（钉钉 / 企微 / 邮件 / 短信）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能力支撑：让上面的场景稳、准、可追溯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把“懂、准、稳”建立在确定性与可观测之上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🧭  意图分层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分析 / 出方案 / 执行 三档，独立分类 + 规则兜底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🔧  四层参数提取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规则优先 → 智能体补槽 → 实体查库 → 关系图补全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🔎  混合检索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图数据库 + 向量并行 → 排序融合 → 精排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🧠  多层记忆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短期(50 条) → 摘要压缩 → 长期向量，跨会话有上下文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3880" y="363016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⚖️  规则引擎兜底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约束 / 推理 / 触发 / 计算四类规则，不只靠概率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可靠性：查不到会自动反思重试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0 条结果时自动反思修正参数再查，而不是硬答“未找到”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🔍  查询 0 条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首轮参数提取可能不准（如把“物料号38”提成“号38”）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🔄  自动反思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检测到 0 条且含模糊值，自动进入反思检查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✏️  修正参数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剥离业务前缀/单位词，把“号38”修正为“38”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✅  重查命中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用修正后的参数再查，命中数据并输出表格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可观测与治理：客户的安全感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让每一次规划有依据、每次调用有记录、每个结果可复盘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📋  审计日志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谁、什么时候、做了什么操作、结果如何，留痕可追责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📈  智能体调用追踪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每步调用链路、耗时与用量，能定位耗时大头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🔗  执行链路可视化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意图识别 → 匹配工具 → 参数提取 → 确认 → 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🔔  多渠道通知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钉钉 / 企业微信 / 邮件 / 短信 / 站内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3880" y="363016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🚨  异常检测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阈值 / 图谱模式 / 规则触发三类检测器 + 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企业业务系统对接：让 AI 动的是真实业务数据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不是只检索知识库，而是对接企业业务系统，按概念自动路由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🏭  对接企业系统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MES / ERP / 图数据库等，按概念自动路由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🔌  统一接入层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查询 / 创建 / 删除统一封装，屏蔽底层差异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🔄  降级链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图数据库 → 业务接口 → 本地库，自动切换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🔐  认证与安全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JWT / 共享密钥对接企业鉴权，权限可控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3880" y="363016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📍  写落点与影响面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写操作落到对应系统，可逆性与影响面可见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76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7680" y="363016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88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🎯  实体解析到真实标识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杜绝“编造标识”导致的空结果或误写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开放集成：MCP + A2A 多智能体协同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不只单点问答，而是开放工具接入 + 多智能体协作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🔌  MCP 工具集成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外部工具 / 服务标准化接入，即插即用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🤝  A2A 多智能体协作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智能体间通信与协作（卡片 / 任务 / API 密钥），跨业务域协同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🔗  开放 API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企业系统 / 多端接入，标准化集成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业务域由本体动态生成，随业务进化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同一框架，换一套本体即编译出另一个业务域的智能体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72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728" cy="73152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本体建模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业务对象、关系、规则，定义业务世界的语义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2415" y="2221992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04288"/>
            <a:ext cx="10972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04288"/>
            <a:ext cx="109728" cy="73152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551176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5059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动态编译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按业务域从本体编译出对应的智能体、技能、动作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42415" y="3044952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10972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27248"/>
            <a:ext cx="109728" cy="73152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374136"/>
            <a:ext cx="420624" cy="42062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7355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业务域进化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换一套本体即换一个业务域，可配置、可复制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当前制造业域示例（随本体变化）：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工单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物料BOM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质量管控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设备运维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仓储库存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4407408"/>
            <a:ext cx="1463040" cy="45720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4480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工程变更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通用平台能力（不随业务域变化）：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6C5CE7"/>
                </a:solidFill>
                <a:latin typeface="微软雅黑"/>
                <a:ea typeface="微软雅黑"/>
              </a:rPr>
              <a:t>▸ </a:t>
            </a:r>
            <a:r>
              <a:rPr sz="1300" b="1">
                <a:solidFill>
                  <a:srgbClr val="4A3CB8"/>
                </a:solidFill>
                <a:latin typeface="微软雅黑"/>
                <a:ea typeface="微软雅黑"/>
              </a:rPr>
              <a:t>审批管理 / 审计追踪 / 执行链路可视化 / LLM 追踪</a:t>
            </a:r>
            <a:r>
              <a:rPr sz="1100" b="0">
                <a:solidFill>
                  <a:srgbClr val="4B5563"/>
                </a:solidFill>
                <a:latin typeface="微软雅黑"/>
                <a:ea typeface="微软雅黑"/>
              </a:rPr>
              <a:t> — 随业务域共享的通用能力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6C5CE7"/>
                </a:solidFill>
                <a:latin typeface="微软雅黑"/>
                <a:ea typeface="微软雅黑"/>
              </a:rPr>
              <a:t>▸ </a:t>
            </a:r>
            <a:r>
              <a:rPr sz="1300" b="1">
                <a:solidFill>
                  <a:srgbClr val="4A3CB8"/>
                </a:solidFill>
                <a:latin typeface="微软雅黑"/>
                <a:ea typeface="微软雅黑"/>
              </a:rPr>
              <a:t>业务配置 / 链条配置 / 多渠道通知</a:t>
            </a:r>
            <a:r>
              <a:rPr sz="1100" b="0">
                <a:solidFill>
                  <a:srgbClr val="4B5563"/>
                </a:solidFill>
                <a:latin typeface="微软雅黑"/>
                <a:ea typeface="微软雅黑"/>
              </a:rPr>
              <a:t> — 同一平台能力，跨业务域复用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4023360" cy="402336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280160"/>
            <a:ext cx="2743200" cy="2743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1887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为什么不是通用大模型 / 聊天机器人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通用平台讲“能力”，我们讲“敢在真实业务上用”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FC 的差异化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对标通用平台 / 聊天机器人，我们站在“执行”这一侧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53746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🧭  本体驱动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不是套壳，是把业务对象、规则、动作编译进语义层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1860" y="1481328"/>
            <a:ext cx="2537460" cy="1097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046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✍️  写操作安全闭环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能写库且可回滚，而不仅是“回答”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81328"/>
            <a:ext cx="2537460" cy="109728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📡  直连业务数据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统一数据访问层多系统，以制造起步、可扩展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5420" y="1481328"/>
            <a:ext cx="2537460" cy="265176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75420" y="1481328"/>
            <a:ext cx="2537460" cy="109728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4020" y="1801368"/>
            <a:ext cx="20802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3CB8"/>
                </a:solidFill>
                <a:latin typeface="微软雅黑"/>
                <a:ea typeface="微软雅黑"/>
              </a:rPr>
              <a:t>🧩  机理 + 规则兜底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规则引擎约束，不只靠概率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通用平台卖的是“广度”——同一个底座服务很多人；FC 卖的是“深度与确定性”——一套本体把业务语义、写操作边界和执行治理串起来，且可换域复用。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</a:rPr>
              <a:t>这不是“能回答问题”，而是“理解业务、敢执行、可收尾、能审计”。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4023360" cy="402336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-1280160"/>
            <a:ext cx="2743200" cy="2743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1887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A623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落地路径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从高价值场景切入，逐步规模化——不靠“案例数量”，靠“可复制的方法”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三步走：选场景 → 建资产 → 扩复制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把一次交付，沉淀成可复用能力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选场景 · 做样板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选高价值场景，明确角色 / 问题 / 指标 / 验收，验证一个真实闭环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2415" y="2313432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14016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14016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60904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建资产 · 沉淀本体与链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把业务对象、规则、动作写进本体，配置对应业务链，形成可复用语义资产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42415" y="3246120"/>
            <a:ext cx="164592" cy="237744"/>
          </a:xfrm>
          <a:prstGeom prst="rightArrow">
            <a:avLst/>
          </a:prstGeom>
          <a:solidFill>
            <a:srgbClr val="9A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10972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46704"/>
            <a:ext cx="109728" cy="822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593592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3CB8"/>
                </a:solidFill>
                <a:latin typeface="微软雅黑"/>
                <a:ea typeface="微软雅黑"/>
              </a:rPr>
              <a:t>扩复制 · 换域复用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</a:rPr>
              <a:t>沿用同一框架，换一套本体即换一个业务域，复制到更多场景 / 岗位 / 产线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3CB8"/>
                </a:solidFill>
                <a:latin typeface="微软雅黑"/>
                <a:ea typeface="微软雅黑"/>
              </a:rPr>
              <a:t>关键：交付不是一次性项目，而是沉淀成企业自己的本体与可配置链——人走，经验留；换域，能力复用。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412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价值与验证承诺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0DCFF"/>
                </a:solidFill>
                <a:latin typeface="微软雅黑"/>
                <a:ea typeface="微软雅黑"/>
              </a:rPr>
              <a:t>我们不对结果“打包票”，而是让结果“可被验证”（不虚构已达成数字）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5052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📈  提质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把识错率、返工率降下来——验证：评测集 + 执行链路可观测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1481328"/>
            <a:ext cx="3505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50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⚡  增效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把熟练工重复劳动交给智能体——验证：耗时 / 人力对比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48132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481328"/>
            <a:ext cx="3505200" cy="91440"/>
          </a:xfrm>
          <a:prstGeom prst="rect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848" y="177393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🏗️  强基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沉淀结构化知识与本体资产，人走经验留——验证：覆盖率 + 复用率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0168"/>
            <a:ext cx="3505200" cy="1920240"/>
          </a:xfrm>
          <a:prstGeom prst="roundRect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3505200" cy="91440"/>
          </a:xfrm>
          <a:prstGeom prst="rect">
            <a:avLst/>
          </a:prstGeom>
          <a:solidFill>
            <a:srgbClr val="2F8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22776"/>
            <a:ext cx="310286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4A3CB8"/>
                </a:solidFill>
                <a:latin typeface="微软雅黑"/>
                <a:ea typeface="微软雅黑"/>
              </a:rPr>
              <a:t>🛡️  可治理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</a:rPr>
              <a:t>写操作全程可审计、可回滚——验证：审计日志 + 追踪 + 回滚记录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Factory Copilot · 本体驱动的企业级智能体平台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微软雅黑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206240" cy="4206240"/>
          </a:xfrm>
          <a:prstGeom prst="ellipse">
            <a:avLst/>
          </a:prstGeom>
          <a:solidFill>
            <a:srgbClr val="5A4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645920"/>
            <a:ext cx="2926080" cy="292608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18872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让 AI 进入企业真实业务流程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5D0F5"/>
                </a:solidFill>
                <a:latin typeface="微软雅黑"/>
                <a:ea typeface="微软雅黑"/>
              </a:rPr>
              <a:t>本体驱动的通用架构 · 配置驱动（链配置→方案→执行→留痕）· 写操作安全闭环 · 可观测、可治理。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